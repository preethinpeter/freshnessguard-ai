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822960"/>
            <a:ext cx="3474720" cy="3474720"/>
          </a:xfrm>
          <a:prstGeom prst="ellipse">
            <a:avLst/>
          </a:prstGeom>
          <a:solidFill>
            <a:srgbClr val="162A39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FreshnessGuard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Freshness Optimization for Retail Supply Chains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33756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333756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3337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11296" y="333756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3337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374904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11296" y="3749040"/>
            <a:ext cx="1417320" cy="292608"/>
          </a:xfrm>
          <a:prstGeom prst="round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103120"/>
            <a:ext cx="2057400" cy="2880360"/>
          </a:xfrm>
          <a:prstGeom prst="rect">
            <a:avLst/>
          </a:prstGeom>
          <a:solidFill>
            <a:srgbClr val="162A3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100,192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24414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Records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29169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 Features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392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Cols Removed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36027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38679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4078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 Agents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48188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Prediction  ·  Demand Forecasting  ·  AI Agents  ·  LP Optimization  ·  Leakage-Free 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FreshnessGuard AI — End-to-End System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8046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spoilage, forecast demand, and generate AI-driven freshness recommendations across 10 retail stores — using only information available at stock-intake time (no data leakage).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20116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E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201168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465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1746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18288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100K records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 pre-sale features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leakage cols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95144" y="2798064"/>
            <a:ext cx="146304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1737360"/>
            <a:ext cx="20116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E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737360"/>
            <a:ext cx="2011680" cy="47548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2450592" y="17465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4952" y="1746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2286000"/>
            <a:ext cx="18288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Spoilage RFC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Demand RF + XGBoost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Prophet time-series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71416" y="2798064"/>
            <a:ext cx="146304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26864" y="1737360"/>
            <a:ext cx="20116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E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737360"/>
            <a:ext cx="2011680" cy="47548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17465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21224" y="1746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2286000"/>
            <a:ext cx="18288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LangChain pipeline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agents (Inventory,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Demand, Weather, Decision)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47688" y="2798064"/>
            <a:ext cx="146304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03136" y="1737360"/>
            <a:ext cx="20116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E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737360"/>
            <a:ext cx="201168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17465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97496" y="1746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Optimizer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94576" y="2286000"/>
            <a:ext cx="18288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PuLP-based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 + Replenishment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Redistribution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07408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4074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93392" y="4407408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4074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12464" y="4407408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12464" y="44074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31536" y="4407408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44074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50608" y="4407408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44074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(Meta)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754880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54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Ollama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93392" y="4754880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93392" y="4754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LLM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12464" y="4754880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12464" y="4754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(LP Solver)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31536" y="4754880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31536" y="4754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0608" y="4754880"/>
            <a:ext cx="1627632" cy="274320"/>
          </a:xfrm>
          <a:prstGeom prst="roundRect">
            <a:avLst/>
          </a:prstGeom>
          <a:solidFill>
            <a:srgbClr val="028090">
              <a:alpha val="18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4754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5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INTEGRITY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Leakage Audit — The Most Critical Step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1C3145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 is Data Leakage?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information at training time that would NOT be available when making real predictions — causing artificially inflated model performance that fails in production.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solidFill>
            <a:srgbClr val="E07A5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721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12 COLUMNS REMOVED (Leakage)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4114800" cy="292608"/>
          </a:xfrm>
          <a:prstGeom prst="rect">
            <a:avLst/>
          </a:prstGeom>
          <a:solidFill>
            <a:srgbClr val="1C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8928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0" y="189280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 of the sale — not known at order time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292608"/>
          </a:xfrm>
          <a:prstGeom prst="rect">
            <a:avLst/>
          </a:prstGeom>
          <a:solidFill>
            <a:srgbClr val="1C1626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21284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Days_to_Expiry_at_Sale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221284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Requires sales_date → transitive leakage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4114800" cy="292608"/>
          </a:xfrm>
          <a:prstGeom prst="rect">
            <a:avLst/>
          </a:prstGeom>
          <a:solidFill>
            <a:srgbClr val="1C1626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5328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freshness_score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20240" y="253288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 from Days_to_Expiry_at_Sale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292608"/>
          </a:xfrm>
          <a:prstGeom prst="rect">
            <a:avLst/>
          </a:prstGeom>
          <a:solidFill>
            <a:srgbClr val="1C1626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8529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sales_demand_n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285292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Binned encoding of units_sold target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114800" cy="292608"/>
          </a:xfrm>
          <a:prstGeom prst="rect">
            <a:avLst/>
          </a:prstGeom>
          <a:solidFill>
            <a:srgbClr val="1C1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17296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discount_applied_percent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20240" y="31729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Applied at sale time — reactive decision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114800" cy="292608"/>
          </a:xfrm>
          <a:prstGeom prst="rect">
            <a:avLst/>
          </a:prstGeom>
          <a:solidFill>
            <a:srgbClr val="1C1626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4930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promotional_price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349300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= unit_price × (1 − discount/100)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4114800" cy="292608"/>
          </a:xfrm>
          <a:prstGeom prst="rect">
            <a:avLst/>
          </a:prstGeom>
          <a:solidFill>
            <a:srgbClr val="1C1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81304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final_profit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381304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Contains units_sold — direct target leakage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4114800" cy="292608"/>
          </a:xfrm>
          <a:prstGeom prst="rect">
            <a:avLst/>
          </a:prstGeom>
          <a:solidFill>
            <a:srgbClr val="1C1626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1330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base_profit_margin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20240" y="413308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= unit_price − cost_price → collinear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434840"/>
            <a:ext cx="4114800" cy="292608"/>
          </a:xfrm>
          <a:prstGeom prst="rect">
            <a:avLst/>
          </a:prstGeom>
          <a:solidFill>
            <a:srgbClr val="1C1626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4531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0" y="445312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per store — near-zero variance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1463040"/>
            <a:ext cx="4206240" cy="34747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1472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CRITICAL FIXES APPLIED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1874520"/>
            <a:ext cx="4206240" cy="713232"/>
          </a:xfrm>
          <a:prstGeom prst="rect">
            <a:avLst/>
          </a:prstGeom>
          <a:solidFill>
            <a:srgbClr val="0D223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87452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19110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191109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threshold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2167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 computed on TRAIN set only — test rows have zero influence on the decision boundary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2651760"/>
            <a:ext cx="4206240" cy="713232"/>
          </a:xfrm>
          <a:prstGeom prst="rect">
            <a:avLst/>
          </a:prstGeom>
          <a:solidFill>
            <a:srgbClr val="0D223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265176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2688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26883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2944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LabelEncoders fitted on TRAIN only — unseen test-set categories mapped to 'Unknown' (no info leak)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4206240" cy="713232"/>
          </a:xfrm>
          <a:prstGeom prst="rect">
            <a:avLst/>
          </a:prstGeom>
          <a:solidFill>
            <a:srgbClr val="0D223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42900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2" name="Text 50"/>
          <p:cNvSpPr/>
          <p:nvPr/>
        </p:nvSpPr>
        <p:spPr>
          <a:xfrm>
            <a:off x="4773168" y="34655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34655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Reporting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73168" y="3721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AND test scores reported for every model — overfitting gap monitored (flag if gap &gt; 0.03)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4206240"/>
            <a:ext cx="4206240" cy="713232"/>
          </a:xfrm>
          <a:prstGeom prst="rect">
            <a:avLst/>
          </a:prstGeom>
          <a:solidFill>
            <a:srgbClr val="0D223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420624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7" name="Text 55"/>
          <p:cNvSpPr/>
          <p:nvPr/>
        </p:nvSpPr>
        <p:spPr>
          <a:xfrm>
            <a:off x="4773168" y="4242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0680" y="42428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Rate Target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73168" y="4498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Added waste/stock target to remove trivial stock_quantity→waste correlation (size confound)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Pre-Sale Features — Zero Leakage Guaranteed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600200" cy="868680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86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100,192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243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749808"/>
            <a:ext cx="1600200" cy="868680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786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90,874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1243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749808"/>
            <a:ext cx="1600200" cy="868680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786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1243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749808"/>
            <a:ext cx="1600200" cy="868680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786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0" y="1243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749808"/>
            <a:ext cx="1600200" cy="868680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786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7830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783080"/>
            <a:ext cx="416052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Product Attributes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2240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shelf_life_days   ·   unit_price   ·   cost_price   ·   Is_Organic   ·   Is_Ready_To_Eat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7830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783080"/>
            <a:ext cx="4160520" cy="38404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 &amp; Supply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2240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stock_quantity   ·   lead_time_days   ·   supply_delay_days   ·   days_to_expiry_at_receipt*   ·   stock_to_shelf_day*   ·   stock_value*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31927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319272"/>
            <a:ext cx="4160520" cy="38404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Environment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7764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Temperature_C   ·   Humidity_Percent   ·   weather_severity_n   ·   temp_classification_n   ·   precipitation_class_n   ·   high_temp_flag*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31927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319272"/>
            <a:ext cx="416052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 &amp; Events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37764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is_holiday   ·   is_weekend   ·   received_year   ·   received_month   ·   received_day   ·   received_weekday   ·   received_quarter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28090">
              <a:alpha val="12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8006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080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 Engineered feature — derived only from received_date + expiry_date (both on product label at intake). Chronological train/test split on received_date.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ML MODEL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Spoilage Prediction — Random Forest Classifier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0.9996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19072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19072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ROC-AUC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63824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63824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8576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53328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53328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749808"/>
            <a:ext cx="1353312" cy="804672"/>
          </a:xfrm>
          <a:prstGeom prst="rect">
            <a:avLst/>
          </a:prstGeom>
          <a:solidFill>
            <a:srgbClr val="0D1E2E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7863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~50/50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0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673352"/>
            <a:ext cx="3840480" cy="3246120"/>
          </a:xfrm>
          <a:prstGeom prst="rect">
            <a:avLst/>
          </a:prstGeom>
          <a:solidFill>
            <a:srgbClr val="0A1928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673352"/>
            <a:ext cx="38404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709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How It Works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148840"/>
            <a:ext cx="3840480" cy="420624"/>
          </a:xfrm>
          <a:prstGeom prst="rect">
            <a:avLst/>
          </a:prstGeom>
          <a:solidFill>
            <a:srgbClr val="0D2133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1854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9888" y="21854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waste_quantity &gt; train-median → binary HIGH/LOW (balanced ~50/50)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89888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RandomForestClassifier (200 trees, max_depth=10, class_weight='balanced')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44952"/>
            <a:ext cx="3840480" cy="420624"/>
          </a:xfrm>
          <a:prstGeom prst="rect">
            <a:avLst/>
          </a:prstGeom>
          <a:solidFill>
            <a:srgbClr val="0D2133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081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89888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Strict chronological 80/20 on received_date — no shuffling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5295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89888" y="3529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Volume target: predicts raw waste volume vs median threshold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941064"/>
            <a:ext cx="3840480" cy="420624"/>
          </a:xfrm>
          <a:prstGeom prst="rect">
            <a:avLst/>
          </a:prstGeom>
          <a:solidFill>
            <a:srgbClr val="0D2133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977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89888" y="3977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 target: waste/stock — removes trivial 'big order = big waste' bias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4256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89888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ROC-AUC, Confusion Matrix, Precision/Recall per class, Train-Test gap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1673352"/>
            <a:ext cx="4572000" cy="3246120"/>
          </a:xfrm>
          <a:prstGeom prst="rect">
            <a:avLst/>
          </a:prstGeom>
          <a:solidFill>
            <a:srgbClr val="0A1928"/>
          </a:solidFill>
          <a:ln w="10160">
            <a:solidFill>
              <a:srgbClr val="5080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1673352"/>
            <a:ext cx="4572000" cy="38404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17099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Top Feature Importances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70832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stock_quantity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0" y="2194560"/>
            <a:ext cx="2112264" cy="16459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8558784" y="21579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370832" y="24277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days_to_expiry_at_receipt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0" y="2464308"/>
            <a:ext cx="1728216" cy="16459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8174736" y="24277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370832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shelf_life_days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0" y="2734056"/>
            <a:ext cx="1344168" cy="16459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3" name="Text 51"/>
          <p:cNvSpPr/>
          <p:nvPr/>
        </p:nvSpPr>
        <p:spPr>
          <a:xfrm>
            <a:off x="7790688" y="26974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370832" y="29672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stock_to_shelf_day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0" y="3003804"/>
            <a:ext cx="1056132" cy="16459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6" name="Text 54"/>
          <p:cNvSpPr/>
          <p:nvPr/>
        </p:nvSpPr>
        <p:spPr>
          <a:xfrm>
            <a:off x="7502652" y="29672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370832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Temperature_C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0" y="3273552"/>
            <a:ext cx="864108" cy="164592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59" name="Text 57"/>
          <p:cNvSpPr/>
          <p:nvPr/>
        </p:nvSpPr>
        <p:spPr>
          <a:xfrm>
            <a:off x="7310628" y="32369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370832" y="35067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price_cost_ratio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00800" y="3543300"/>
            <a:ext cx="672084" cy="164592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62" name="Text 60"/>
          <p:cNvSpPr/>
          <p:nvPr/>
        </p:nvSpPr>
        <p:spPr>
          <a:xfrm>
            <a:off x="7118604" y="35067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370832" y="3776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stock_value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00800" y="3813048"/>
            <a:ext cx="57607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5" name="Text 63"/>
          <p:cNvSpPr/>
          <p:nvPr/>
        </p:nvSpPr>
        <p:spPr>
          <a:xfrm>
            <a:off x="7022592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370832" y="40462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Humidity_Percent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400800" y="4082796"/>
            <a:ext cx="480060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8" name="Text 66"/>
          <p:cNvSpPr/>
          <p:nvPr/>
        </p:nvSpPr>
        <p:spPr>
          <a:xfrm>
            <a:off x="6926580" y="40462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370832" y="4315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supply_delay_days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00800" y="4352544"/>
            <a:ext cx="384048" cy="164592"/>
          </a:xfrm>
          <a:prstGeom prst="rect">
            <a:avLst/>
          </a:prstGeom>
          <a:solidFill>
            <a:srgbClr val="7A9B97"/>
          </a:solidFill>
          <a:ln/>
        </p:spPr>
      </p:sp>
      <p:sp>
        <p:nvSpPr>
          <p:cNvPr id="71" name="Text 69"/>
          <p:cNvSpPr/>
          <p:nvPr/>
        </p:nvSpPr>
        <p:spPr>
          <a:xfrm>
            <a:off x="6830568" y="43159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370832" y="45857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received_month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400800" y="4622292"/>
            <a:ext cx="192024" cy="164592"/>
          </a:xfrm>
          <a:prstGeom prst="rect">
            <a:avLst/>
          </a:prstGeom>
          <a:solidFill>
            <a:srgbClr val="7A9B97"/>
          </a:solidFill>
          <a:ln/>
        </p:spPr>
      </p:sp>
      <p:sp>
        <p:nvSpPr>
          <p:cNvPr id="74" name="Text 72"/>
          <p:cNvSpPr/>
          <p:nvPr/>
        </p:nvSpPr>
        <p:spPr>
          <a:xfrm>
            <a:off x="6638544" y="45857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noFill/>
          <a:ln/>
        </p:spPr>
      </p:sp>
      <p:sp>
        <p:nvSpPr>
          <p:cNvPr id="76" name="Shape 7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TN=8,997  FP=98  FN=72  TP=9,008  |  Both classes ≥99% precision &amp; recall  |  Train-Test AUC gap: 0.0003 ✅ No Overfitting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ML MODELS 2, 3,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Forecasting — Three Complementary Approaches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627632" cy="841248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863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0.9475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RF R²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408176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log-space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0" y="749808"/>
            <a:ext cx="1627632" cy="841248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7863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88.8 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207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RF MAE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408176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original scale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49040" y="749808"/>
            <a:ext cx="1627632" cy="841248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7863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 u/d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207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49040" y="1408176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10 stores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0" y="749808"/>
            <a:ext cx="1627632" cy="841248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7863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48.3 u/d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1207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MAE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1408176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Store_1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23760" y="749808"/>
            <a:ext cx="1627632" cy="841248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7863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+157%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1207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Surge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23760" y="1408176"/>
            <a:ext cx="1627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weekday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1719072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1719072"/>
            <a:ext cx="54864" cy="105156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 Regressor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1792224"/>
            <a:ext cx="1005840" cy="219456"/>
          </a:xfrm>
          <a:prstGeom prst="roundRect">
            <a:avLst/>
          </a:prstGeom>
          <a:solidFill>
            <a:srgbClr val="84B59F">
              <a:alpha val="30000"/>
            </a:srgbClr>
          </a:solidFill>
          <a:ln w="1016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2066544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Target: log1p(units_sold) — fixes right skew (raw skew ~4.3 → log ~0.2)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220827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Features: 27 pre-sale inputs via canonical PRE_SALE_FEATURES list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235000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Params: 150 trees, max_depth=8, min_samples_leaf=10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49174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Test R²: 0.9475 (log-space) | Test MAE: 88.8 units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263347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Train R²: 0.9821 | Overfit Gap: 0.0346 ✅ Acceptable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83464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834640"/>
            <a:ext cx="54864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 (Walk-Forward TS)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0" y="2907792"/>
            <a:ext cx="1005840" cy="219456"/>
          </a:xfrm>
          <a:prstGeom prst="roundRect">
            <a:avLst/>
          </a:prstGeom>
          <a:solidFill>
            <a:srgbClr val="028090">
              <a:alpha val="3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2907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1480" y="318211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Features: Lag-1/3/7/14/30d + rolling 7/14/30d mean &amp; std (all shifted to prevent look-ahead)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3323844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Calendar: day_of_week, month, week_of_year, is_month_end, is_month_start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6557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External: avg_temp, weather_severity, is_holiday, is_weekend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360730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Trained per-store (10 independent models) — date-based train/test split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374904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Avg MAE: 6.2 u/d | Avg RMSE: 14.5 u/d across all 10 stores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950208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950208"/>
            <a:ext cx="54864" cy="105156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Prophet (Meta Seasonality)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72400" y="4023360"/>
            <a:ext cx="1005840" cy="219456"/>
          </a:xfrm>
          <a:prstGeom prst="roundRect">
            <a:avLst/>
          </a:prstGeom>
          <a:solidFill>
            <a:srgbClr val="50808E">
              <a:alpha val="30000"/>
            </a:srgbClr>
          </a:solidFill>
          <a:ln w="10160">
            <a:solidFill>
              <a:srgbClr val="5080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11480" y="429768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Mode: Multiplicative seasonality — handles proportional demand variation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43941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Seasonality: weekly=True, yearly=True, daily=False (appropriate for retail)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4581144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Regressors added: is_holiday, weather_severity (both pre-sale safe)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472287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changepoint_prior_scale=0.05 — conservative trend flexibility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86460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Store_1 MAE: 48.3 u/d | Components: trend + weekly + yearly + regressors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5065776"/>
            <a:ext cx="8595360" cy="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028090">
              <a:alpha val="15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7823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0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🔒  Look-ahead prevention: ALL lag/rolling features use series.shift(N) — shift(1) before rolling() ensures window at time t never includes the value at t itself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AI AGENTS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Multi-Agent System — LLaMA 3 via Ollama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29968" cy="3840480"/>
          </a:xfrm>
          <a:prstGeom prst="rect">
            <a:avLst/>
          </a:prstGeom>
          <a:solidFill>
            <a:srgbClr val="0D1F2D"/>
          </a:solidFill>
          <a:ln w="15240">
            <a:solidFill>
              <a:srgbClr val="84B5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029968" cy="438912"/>
          </a:xfrm>
          <a:prstGeom prst="rect">
            <a:avLst/>
          </a:prstGeom>
          <a:solidFill>
            <a:srgbClr val="84B59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138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Agent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Total stock &amp; waste per store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Products expiring ≤3 days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1214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Top 5 waste products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441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Low stock alerts (&lt; 50 units)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694176"/>
            <a:ext cx="2029968" cy="896112"/>
          </a:xfrm>
          <a:prstGeom prst="rect">
            <a:avLst/>
          </a:prstGeom>
          <a:solidFill>
            <a:srgbClr val="84B59F">
              <a:alpha val="15000"/>
            </a:srgbClr>
          </a:solidFill>
          <a:ln w="762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Spoilage risk summary + urgent actions + replenishment needs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13432" y="2651760"/>
            <a:ext cx="128016" cy="73152"/>
          </a:xfrm>
          <a:prstGeom prst="rect">
            <a:avLst/>
          </a:prstGeom>
          <a:solidFill>
            <a:srgbClr val="7A9B97"/>
          </a:solidFill>
          <a:ln/>
        </p:spPr>
      </p:sp>
      <p:sp>
        <p:nvSpPr>
          <p:cNvPr id="18" name="Shape 16"/>
          <p:cNvSpPr/>
          <p:nvPr/>
        </p:nvSpPr>
        <p:spPr>
          <a:xfrm>
            <a:off x="2450592" y="777240"/>
            <a:ext cx="2029968" cy="3840480"/>
          </a:xfrm>
          <a:prstGeom prst="rect">
            <a:avLst/>
          </a:prstGeom>
          <a:solidFill>
            <a:srgbClr val="0D1F2D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0592" y="777240"/>
            <a:ext cx="2029968" cy="43891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8138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Demand Agent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42032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42032" y="14813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30-day XGBoost forecast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42032" y="18013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Weekend vs weekday delta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42032" y="21214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Peak &amp; low demand days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2441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Market context from all stores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50592" y="3694176"/>
            <a:ext cx="2029968" cy="896112"/>
          </a:xfrm>
          <a:prstGeom prst="rect">
            <a:avLst/>
          </a:prstGeom>
          <a:solidFill>
            <a:srgbClr val="028090">
              <a:alpha val="15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7307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42032" y="39319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Replenishment schedule + weekend prep + risk alerts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9704" y="2651760"/>
            <a:ext cx="128016" cy="73152"/>
          </a:xfrm>
          <a:prstGeom prst="rect">
            <a:avLst/>
          </a:prstGeom>
          <a:solidFill>
            <a:srgbClr val="7A9B97"/>
          </a:solidFill>
          <a:ln/>
        </p:spPr>
      </p:sp>
      <p:sp>
        <p:nvSpPr>
          <p:cNvPr id="30" name="Shape 28"/>
          <p:cNvSpPr/>
          <p:nvPr/>
        </p:nvSpPr>
        <p:spPr>
          <a:xfrm>
            <a:off x="4626864" y="777240"/>
            <a:ext cx="2029968" cy="3840480"/>
          </a:xfrm>
          <a:prstGeom prst="rect">
            <a:avLst/>
          </a:prstGeom>
          <a:solidFill>
            <a:srgbClr val="0D1F2D"/>
          </a:solidFill>
          <a:ln w="15240">
            <a:solidFill>
              <a:srgbClr val="D4A8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777240"/>
            <a:ext cx="2029968" cy="438912"/>
          </a:xfrm>
          <a:prstGeom prst="rect">
            <a:avLst/>
          </a:prstGeom>
          <a:solidFill>
            <a:srgbClr val="D4A853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8138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Weather Agent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18304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18304" y="14813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Avg &amp; max temp per store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18304" y="18013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High-temp days (&gt;30°C)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18304" y="21214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Weather severity vs waste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18304" y="2441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Category-level temp impact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26864" y="3694176"/>
            <a:ext cx="2029968" cy="896112"/>
          </a:xfrm>
          <a:prstGeom prst="rect">
            <a:avLst/>
          </a:prstGeom>
          <a:solidFill>
            <a:srgbClr val="D4A853">
              <a:alpha val="15000"/>
            </a:srgbClr>
          </a:solidFill>
          <a:ln w="7620">
            <a:solidFill>
              <a:srgbClr val="D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37307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18304" y="39319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Heatwave risk + shelf-life reduction estimates + storage actions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665976" y="2651760"/>
            <a:ext cx="128016" cy="73152"/>
          </a:xfrm>
          <a:prstGeom prst="rect">
            <a:avLst/>
          </a:prstGeom>
          <a:solidFill>
            <a:srgbClr val="7A9B97"/>
          </a:solidFill>
          <a:ln/>
        </p:spPr>
      </p:sp>
      <p:sp>
        <p:nvSpPr>
          <p:cNvPr id="42" name="Shape 40"/>
          <p:cNvSpPr/>
          <p:nvPr/>
        </p:nvSpPr>
        <p:spPr>
          <a:xfrm>
            <a:off x="6803136" y="777240"/>
            <a:ext cx="2029968" cy="3840480"/>
          </a:xfrm>
          <a:prstGeom prst="rect">
            <a:avLst/>
          </a:prstGeom>
          <a:solidFill>
            <a:srgbClr val="0D1F2D"/>
          </a:solidFill>
          <a:ln w="15240">
            <a:solidFill>
              <a:srgbClr val="E07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03136" y="777240"/>
            <a:ext cx="2029968" cy="438912"/>
          </a:xfrm>
          <a:prstGeom prst="rect">
            <a:avLst/>
          </a:prstGeom>
          <a:solidFill>
            <a:srgbClr val="E07A5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94576" y="8138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Decision Agent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94576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894576" y="14813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All 3 agent reports synthesized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94576" y="18013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Structured prompt with action types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94576" y="21214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[DISCOUNT] [REPLENISHMENT]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94576" y="2441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[REDISTRIBUTE] [REDUCE ORDER]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03136" y="3694176"/>
            <a:ext cx="2029968" cy="896112"/>
          </a:xfrm>
          <a:prstGeom prst="rect">
            <a:avLst/>
          </a:prstGeom>
          <a:solidFill>
            <a:srgbClr val="E07A5F">
              <a:alpha val="15000"/>
            </a:srgbClr>
          </a:solidFill>
          <a:ln w="7620">
            <a:solidFill>
              <a:srgbClr val="E07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7307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94576" y="39319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5–7 specific actions with product names, quantities, percentages &amp; dates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0D2234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681728"/>
            <a:ext cx="54864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700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Decision Agent Output: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1480" y="487375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[DISCOUNT] Dairy nearing expiry → Apply 15% discount on Strawberries &amp; Ground Beef today  |  [REPLENISHMENT] Weekend surge → Order 200 extra bread units by Friday  |  [REDISTRIBUTE] Surplus yogurt → Transfer 50 units to Store_4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LINEAR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PuLP Optimization Engine — Three Decision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627632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411K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Saved from Waste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749808"/>
            <a:ext cx="1627632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777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₹7.94L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11680" y="1188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Replenish Cost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749808"/>
            <a:ext cx="1627632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777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49040" y="1188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Optimized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0" y="749808"/>
            <a:ext cx="1627632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777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86400" y="1188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Formulations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23760" y="749808"/>
            <a:ext cx="1627632" cy="804672"/>
          </a:xfrm>
          <a:prstGeom prst="rect">
            <a:avLst/>
          </a:prstGeom>
          <a:solidFill>
            <a:srgbClr val="0D1F2D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777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23760" y="1188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(PULP_CBC_CMD)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673352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673352"/>
            <a:ext cx="54864" cy="107899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Discount Optimizer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1975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MAXIMIZE total revenue from expiring stock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1579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80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Variables:  discount_i ∈ [0%, 70%] per category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331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Constraints:  discount ≥ 15% if days_to_expiry ≤ 3  |  discount ≥ 10% for Fresh Foods, Dairy, Bakery  |  discount ≤ 70% (floor pricing protection)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514600"/>
            <a:ext cx="8229600" cy="182880"/>
          </a:xfrm>
          <a:prstGeom prst="roundRect">
            <a:avLst/>
          </a:prstGeom>
          <a:solidFill>
            <a:srgbClr val="E07A5F">
              <a:alpha val="12000"/>
            </a:srgbClr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52374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Optimal discount per store/category  →  411K units saved from waste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16352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16352"/>
            <a:ext cx="54864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Replenishment Optimizer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3118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MINIMIZE replenishment cost while meeting forecasted demand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33009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80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Variables:  order_qty_i ≥ 0, integer per category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474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Constraints:  Total cost ≤ ₹500,000 budget  |  order ≥ max(0, forecasted_need − current_stock)  |  Fresh/Dairy/Bakery capped at 1.2× forecast (perishability)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657600"/>
            <a:ext cx="8229600" cy="182880"/>
          </a:xfrm>
          <a:prstGeom prst="roundRect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66674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Optimal order per store/category  →  ₹7.94L total cost across 10 stores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959352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959352"/>
            <a:ext cx="54864" cy="1078992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Redistribution Optimizer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1480" y="4261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MINIMIZE total transfer cost of surplus perishable stock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4439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80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Variables:  transfer(from_store, to_store) ≥ 0 per category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Constraints:  Transfer ≤ 50% of surplus (operational limit)  |  Transfer to any store ≤ that store's deficit  |  Only Fresh Foods, Dairy &amp; Alternatives, Bakery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800600"/>
            <a:ext cx="8229600" cy="182880"/>
          </a:xfrm>
          <a:prstGeom prst="roundRect">
            <a:avLst/>
          </a:prstGeom>
          <a:solidFill>
            <a:srgbClr val="50808E">
              <a:alpha val="12000"/>
            </a:srgbClr>
          </a:solidFill>
          <a:ln w="6350">
            <a:solidFill>
              <a:srgbClr val="5080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80974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Cross-store transfers  →  ~70% of transferred units prevented from waste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— STREAMLIT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FreshnessGuard AI Operations Dashboard — 6-Tab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KPIs: 100K records, 27 features, 29.5% danger zone. Monthly demand trend (area chart). Waste by category (bar). 30-day store forecasts. Expiry danger-zone histogram with danger/warning bands. Live alert strip (High Priority / Weekend Alert / Top Performer).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82112" y="777240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777240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Demand 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234440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Multi-store walk-forward forecast lines (30 days). XGBoost MAE per store (color-coded). Model comparison table: Prophet vs XGBoost vs RF. Weekend vs weekday demand bar. MAE vs RMSE scatter with MAPE color-scale.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9904" y="777240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777240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Spoilage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234440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importance bar chart (top 13 features). Confusion matrix heatmap (18,175 test samples). Waste distribution donut by category. Weather risk table per store. Temperature profile dual-axis chart (avg + max + high-temp days).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53512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53512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08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Agents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41071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pipeline visualization (4-stage flow diagram). AI recommendations feed for all stores — color-coded by action type [DISCOUNT / REPLENISHMENT / REDISTRIBUTE / REDUCE ORDER]. Filterable by store.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82112" y="2953512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953512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3008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Optimization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73552" y="341071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before/after discounting (grouped bars). Optimal discount % per store (threshold line at 20%). Replenishment: current stock vs optimal order. Urgency table (HIGH / MEDIUM / LOW). Total units saved from waste bar chart.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9904" y="2953512"/>
            <a:ext cx="2743200" cy="1993392"/>
          </a:xfrm>
          <a:prstGeom prst="rect">
            <a:avLst/>
          </a:prstGeom>
          <a:solidFill>
            <a:srgbClr val="0A1928"/>
          </a:solidFill>
          <a:ln w="1143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2953512"/>
            <a:ext cx="274320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81344" y="3008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Model Audit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81344" y="341071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leakage registry (12 columns, color-coded by type). Model performance table: Train vs Test scores + overfitting gap status. 4 critical fixes summary panel. Feature importances bar. Train vs Test score comparison for all 4 models.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D1E2E"/>
          </a:solidFill>
          <a:ln w="7620">
            <a:solidFill>
              <a:srgbClr val="5080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7457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Theme:  Dark/Light toggle  ·  Custom CSS: Syne + Bricolage Grotesque + DM Mono  ·  Color System: #00e5a0 accent, #0096ff blue, #ff4757 danger  ·  Plotly interactive charts  ·  Badge pills, Action cards, Leak registry rows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AUDIT — FINAL 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vs Test Performance — All 6 Models — Zero Data Leakage Confirmed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641080" cy="347472"/>
          </a:xfrm>
          <a:prstGeom prst="rect">
            <a:avLst/>
          </a:prstGeom>
          <a:solidFill>
            <a:srgbClr val="1A2E38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772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32304" y="7772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55264" y="77724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52544" y="77724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49824" y="77724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1344" y="777240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143000"/>
            <a:ext cx="8641080" cy="402336"/>
          </a:xfrm>
          <a:prstGeom prst="rect">
            <a:avLst/>
          </a:prstGeom>
          <a:solidFill>
            <a:srgbClr val="F5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1978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Classifier (volume)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32304" y="119786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ROC-AUC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55264" y="119786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0.9999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52544" y="119786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0.9996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49824" y="11978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0.0003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81344" y="119786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Clean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572768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162763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Classifier (rate)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32304" y="162763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ROC-AUC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5264" y="162763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0.9995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52544" y="162763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0.9990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9824" y="16276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0.0005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1627632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Clean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002536"/>
            <a:ext cx="8641080" cy="402336"/>
          </a:xfrm>
          <a:prstGeom prst="rect">
            <a:avLst/>
          </a:prstGeom>
          <a:solidFill>
            <a:srgbClr val="F5F8F6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20574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Regressor (RF)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32304" y="20574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 log-space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55264" y="20574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0.9821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52544" y="20574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0.9475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9824" y="20574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0.0346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057400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Clean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432304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" y="24871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RF Part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32304" y="248716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55264" y="248716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0.9610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52544" y="248716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0.8468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9824" y="248716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0.1142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248716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⚠️ Check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2862072"/>
            <a:ext cx="8641080" cy="402336"/>
          </a:xfrm>
          <a:prstGeom prst="rect">
            <a:avLst/>
          </a:prstGeom>
          <a:solidFill>
            <a:srgbClr val="F5F8F6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" y="291693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Vol. Regressor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32304" y="29169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55264" y="291693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0.9990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352544" y="291693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0.9766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49824" y="29169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0.0224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81344" y="2916936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⚠️ Watch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291840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29184" y="334670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Time-Series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32304" y="334670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MAE u/d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55264" y="3346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3.1 u/d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52544" y="3346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6.2 u/d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49824" y="33467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 u/d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81344" y="334670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Clean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721608"/>
            <a:ext cx="8641080" cy="402336"/>
          </a:xfrm>
          <a:prstGeom prst="rect">
            <a:avLst/>
          </a:prstGeom>
          <a:solidFill>
            <a:srgbClr val="F5F8F6"/>
          </a:solidFill>
          <a:ln/>
        </p:spPr>
      </p:sp>
      <p:sp>
        <p:nvSpPr>
          <p:cNvPr id="56" name="Text 54"/>
          <p:cNvSpPr/>
          <p:nvPr/>
        </p:nvSpPr>
        <p:spPr>
          <a:xfrm>
            <a:off x="329184" y="37764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Seasonality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32304" y="377647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MAE u/d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55264" y="37764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41.2 u/d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352544" y="37764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48.3 u/d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49824" y="377647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~7 u/d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81344" y="3776472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Clean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4251960"/>
            <a:ext cx="2029968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4251960"/>
            <a:ext cx="2029968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31596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65760" y="4480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5/6 models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65760" y="47183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models fully audited against 12-column registry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450592" y="4251960"/>
            <a:ext cx="2029968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450592" y="4251960"/>
            <a:ext cx="2029968" cy="457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69" name="Text 67"/>
          <p:cNvSpPr/>
          <p:nvPr/>
        </p:nvSpPr>
        <p:spPr>
          <a:xfrm>
            <a:off x="2542032" y="431596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42032" y="4480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TS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2542032" y="47183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6.2 units/day MAE across all 10 stores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26864" y="4251960"/>
            <a:ext cx="2029968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26864" y="4251960"/>
            <a:ext cx="2029968" cy="4572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74" name="Text 72"/>
          <p:cNvSpPr/>
          <p:nvPr/>
        </p:nvSpPr>
        <p:spPr>
          <a:xfrm>
            <a:off x="4718304" y="431596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718304" y="4480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0.9996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718304" y="47183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Spoilage classifier — near-perfect discrimination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803136" y="4251960"/>
            <a:ext cx="2029968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803136" y="4251960"/>
            <a:ext cx="2029968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9" name="Text 77"/>
          <p:cNvSpPr/>
          <p:nvPr/>
        </p:nvSpPr>
        <p:spPr>
          <a:xfrm>
            <a:off x="6894576" y="431596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894576" y="4480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RF P2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894576" y="47183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 0.11 → investigate: collinear features or insufficient regularization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5486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01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FreshnessGuard AI Delivers — Across 10 Stores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86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ML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28016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columns surgically removed. Median thresholds, label encoders, and feature sets all scoped to train set. Prevents the most common production failure mode — artificially inflated accuracy.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77724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777240"/>
            <a:ext cx="274320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886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12464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411K Units Saved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28016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PuLP LP discount optimizer identifies optimal markdown per store/category — minimizing waste while protecting revenue. Categories expiring in ≤3 days get ≥15% auto-floor discount.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77724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77724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886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0256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Units/Day MAE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9632" y="128016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walk-forward forecaster achieves sub-7 unit accuracy across all 10 stores — using only lag features, rolling windows, and calendar signals. No future information.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35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4672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Autonomous AI Agents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342900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LangChain pipeline chains Inventory → Demand → Weather → Decision agents. LLaMA 3 synthesizes structured reports into 5–7 actionable recommendations per store per run.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82112" y="292608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E07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2926080"/>
            <a:ext cx="27432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35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12464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Intelligence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91840" y="342900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Temperature, humidity, and weather severity explicitly modeled. Stores with &gt;30°C average face 12–35% waste premium — agents adapt recommendations dynamically.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9904" y="2926080"/>
            <a:ext cx="2743200" cy="1965960"/>
          </a:xfrm>
          <a:prstGeom prst="rect">
            <a:avLst/>
          </a:prstGeom>
          <a:solidFill>
            <a:srgbClr val="0A1928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926080"/>
            <a:ext cx="2743200" cy="54864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3035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20256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Replenishment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99632" y="342900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LP replenishment optimizer balances ₹500K budget against 30-day XGBoost forecasts. Perishables capped at 1.2× forecast. Result: ₹7.94L optimally allocated across 10 stores.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51014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29.5% of items in danger zone (≤3d)  ·  +157% weekend demand surge  ·  Store_9 leads at 83 units/day  ·  Store_3 highest heatwave risk (+28% waste premium)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097280"/>
            <a:ext cx="5029200" cy="5029200"/>
          </a:xfrm>
          <a:prstGeom prst="ellipse">
            <a:avLst/>
          </a:prstGeom>
          <a:solidFill>
            <a:srgbClr val="02809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55448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FreshnessGuard AI — End-to-End Retail Freshness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Zero data leakage — 12 columns audited &amp; removed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5351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6 ML models (RFC · RF Regressor · XGBoost · Prophet · Waste Rate)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30098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4 LangChain AI agents → automated store-level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6484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3 PuLP LP optimizers → discount, replenishment, redistribution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959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Streamlit dashboard — 6 tabs, dark/light theme, Plotly charts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34340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411K waste units saved · ₹7.94L optimally allocated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645920"/>
            <a:ext cx="1737360" cy="3291840"/>
          </a:xfrm>
          <a:prstGeom prst="rect">
            <a:avLst/>
          </a:prstGeom>
          <a:solidFill>
            <a:srgbClr val="0A19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178040" y="2203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4597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178040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178040" y="3136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33924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78040" y="3602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43251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178040" y="4535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411K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791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9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Saved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A39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with Python · Pandas · Scikit-learn · XGBoost · Prophet · LangChain · PuLP · Streamlit · Plotly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FreshnessGuard AI — Freshness Optimization System</dc:title>
  <dc:subject>PptxGenJS Presentation</dc:subject>
  <dc:creator>Senior Data Scientist</dc:creator>
  <cp:lastModifiedBy>Senior Data Scientist</cp:lastModifiedBy>
  <cp:revision>1</cp:revision>
  <dcterms:created xsi:type="dcterms:W3CDTF">2026-03-31T10:07:31Z</dcterms:created>
  <dcterms:modified xsi:type="dcterms:W3CDTF">2026-03-31T10:07:31Z</dcterms:modified>
</cp:coreProperties>
</file>